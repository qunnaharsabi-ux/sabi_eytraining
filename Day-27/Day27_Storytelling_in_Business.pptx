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B3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B2B33"/>
                </a:solidFill>
                <a:latin typeface="Arial"/>
              </a:rPr>
              <a:t>Recall Over Time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Facts alone</c:v>
                </c:pt>
              </c:strCache>
            </c:strRef>
          </c:tx>
          <c:spPr>
            <a:solidFill>
              <a:srgbClr val="D8DCE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Day 1</c:v>
                  </c:pt>
                  <c:pt idx="1">
                    <c:v>Day 7</c:v>
                  </c:pt>
                  <c:pt idx="2">
                    <c:v>Day 30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35</c:v>
                </c:pt>
                <c:pt idx="2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Facts + story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Day 1</c:v>
                  </c:pt>
                  <c:pt idx="1">
                    <c:v>Day 7</c:v>
                  </c:pt>
                  <c:pt idx="2">
                    <c:v>Day 30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78</c:v>
                </c:pt>
                <c:pt idx="2">
                  <c:v>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09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0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44475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Storytelling in Business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setup to resolution — crafting narratives that move people to act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297680"/>
            <a:ext cx="8686800" cy="18288"/>
          </a:xfrm>
          <a:prstGeom prst="rect">
            <a:avLst/>
          </a:prstGeom>
          <a:solidFill>
            <a:srgbClr val="3A438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572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8-Hour Workshop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Full-Day Intensive · Storytelling, Structure &amp; Delivery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in Business — Workshop Deck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8-Hour Agenda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 – 9:30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194560" y="1965960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Intro to Storytelling in Business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350008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9:30 – 10:30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94560" y="2350008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Structure: Setup, Conflict, Resolution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734056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 – 10:45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2734056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118104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 – 11:30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94560" y="3118104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Emotion &amp; Memory in Story Retention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3502152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11:30 – 12:30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94560" y="3502152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Message &amp; Stakeholder Mapping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3886200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12:30 – 1:15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94560" y="3886200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17920" y="1965960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1:15 – 2:15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0" y="1965960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Metaphors, Analogies &amp; Visual Language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17920" y="2350008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2:15 – 3:00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0" y="2350008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Storyboard into Slides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17920" y="2734056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 – 3:15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0" y="2734056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17920" y="3118104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3:15 – 4:00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0" y="3118104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Voice, Pacing &amp; Body Language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217920" y="3502152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 – 6:15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0" y="3502152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Build Your Application's Storytelling Deck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217920" y="3886200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6:15 – 7:00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0" y="3886200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3-Minute Story Pitch + Feedback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943600" y="1920240"/>
            <a:ext cx="0" cy="2304288"/>
          </a:xfrm>
          <a:prstGeom prst="line">
            <a:avLst/>
          </a:prstGeom>
          <a:noFill/>
          <a:ln w="12700">
            <a:solidFill>
              <a:srgbClr val="DDD6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in Business — Workshop Deck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END OF 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Walk Away With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060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23060" y="2468880"/>
            <a:ext cx="640080" cy="640080"/>
          </a:xfrm>
          <a:prstGeom prst="ellipse">
            <a:avLst/>
          </a:prstGeom>
          <a:solidFill>
            <a:srgbClr val="FDE7E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2671" y="255849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33756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story structure you can apply to any pitch, update, or proposal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520440" y="2103120"/>
            <a:ext cx="26060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03420" y="2468880"/>
            <a:ext cx="640080" cy="640080"/>
          </a:xfrm>
          <a:prstGeom prst="ellipse">
            <a:avLst/>
          </a:prstGeom>
          <a:solidFill>
            <a:srgbClr val="FDE7E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031" y="2558491"/>
            <a:ext cx="460858" cy="46085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49040" y="333756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understanding of why emotion drives what people remember and act on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0" y="2103120"/>
            <a:ext cx="26060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383780" y="2468880"/>
            <a:ext cx="640080" cy="640080"/>
          </a:xfrm>
          <a:prstGeom prst="ellipse">
            <a:avLst/>
          </a:prstGeom>
          <a:solidFill>
            <a:srgbClr val="FDE7E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391" y="2558491"/>
            <a:ext cx="460858" cy="46085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29400" y="333756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sharpened core message and a map of who you're really talking to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9281160" y="2103120"/>
            <a:ext cx="26060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0264140" y="2468880"/>
            <a:ext cx="640080" cy="640080"/>
          </a:xfrm>
          <a:prstGeom prst="ellipse">
            <a:avLst/>
          </a:prstGeom>
          <a:solidFill>
            <a:srgbClr val="FDE7E8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751" y="2558491"/>
            <a:ext cx="460858" cy="46085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509760" y="333756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storytelling deck, built in PowerPoint, for your Week 5 application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in Business — Workshop Deck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Business Runs on Stories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deck, pitch, and update competes with the same thing: forgettability. Data informs, but story is what survives the meeting, gets repeated in the hallway, and convinces someone who wasn't even in the room.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22x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920240" y="37947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memorable than facts alone, when wrapped in a story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920240" y="45720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conversations are made up of personal stories or gossip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53035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920240" y="5349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— setup, conflict, resolution — underlies almost all of them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40880" y="1554480"/>
            <a:ext cx="4480560" cy="448056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 is just a pattern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 flipV="1">
            <a:off x="7406640" y="4663440"/>
            <a:ext cx="548640" cy="457200"/>
          </a:xfrm>
          <a:prstGeom prst="line">
            <a:avLst/>
          </a:prstGeom>
          <a:noFill/>
          <a:ln w="31750">
            <a:solidFill>
              <a:srgbClr val="F9E79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4663440"/>
            <a:ext cx="548640" cy="365760"/>
          </a:xfrm>
          <a:prstGeom prst="line">
            <a:avLst/>
          </a:prstGeom>
          <a:noFill/>
          <a:ln w="31750">
            <a:solidFill>
              <a:srgbClr val="F9E79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8503920" y="2926080"/>
            <a:ext cx="640080" cy="2103120"/>
          </a:xfrm>
          <a:prstGeom prst="line">
            <a:avLst/>
          </a:prstGeom>
          <a:noFill/>
          <a:ln w="31750">
            <a:solidFill>
              <a:srgbClr val="F9E79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0" y="2926080"/>
            <a:ext cx="640080" cy="2011680"/>
          </a:xfrm>
          <a:prstGeom prst="line">
            <a:avLst/>
          </a:prstGeom>
          <a:noFill/>
          <a:ln w="31750">
            <a:solidFill>
              <a:srgbClr val="F9E79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84080" y="4937760"/>
            <a:ext cx="640080" cy="182880"/>
          </a:xfrm>
          <a:prstGeom prst="line">
            <a:avLst/>
          </a:prstGeom>
          <a:noFill/>
          <a:ln w="31750">
            <a:solidFill>
              <a:srgbClr val="F9E79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24160" y="5120640"/>
            <a:ext cx="640080" cy="9144"/>
          </a:xfrm>
          <a:prstGeom prst="line">
            <a:avLst/>
          </a:prstGeom>
          <a:noFill/>
          <a:ln w="31750">
            <a:solidFill>
              <a:srgbClr val="F9E79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5166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95360" y="3017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149840" y="5166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in Business — Workshop Deck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STORY 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→ Conflict → Resolution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65960"/>
            <a:ext cx="3429000" cy="5029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988820" y="2651760"/>
            <a:ext cx="731520" cy="731520"/>
          </a:xfrm>
          <a:prstGeom prst="ellipse">
            <a:avLst/>
          </a:prstGeom>
          <a:solidFill>
            <a:srgbClr val="FDE7E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1233" y="2754173"/>
            <a:ext cx="526694" cy="5266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520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14400" y="397764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the world, the hero, and what 'normal' looks like before anything changes.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14400" y="5074920"/>
            <a:ext cx="2880360" cy="822960"/>
          </a:xfrm>
          <a:prstGeom prst="rect">
            <a:avLst/>
          </a:prstGeom>
          <a:solidFill>
            <a:srgbClr val="FBF6EC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514807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this about, and what did they want before the problem hit?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89120" y="1965960"/>
            <a:ext cx="342900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89120" y="1965960"/>
            <a:ext cx="3429000" cy="5029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0" y="19659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737860" y="2651760"/>
            <a:ext cx="731520" cy="731520"/>
          </a:xfrm>
          <a:prstGeom prst="ellipse">
            <a:avLst/>
          </a:prstGeom>
          <a:solidFill>
            <a:srgbClr val="FDE7E8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273" y="2754173"/>
            <a:ext cx="526694" cy="52669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389120" y="3520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4663440" y="397764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the obstacle, tension, or gap that disrupts the normal and creates stakes.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663440" y="5074920"/>
            <a:ext cx="2880360" cy="822960"/>
          </a:xfrm>
          <a:prstGeom prst="rect">
            <a:avLst/>
          </a:prstGeom>
          <a:solidFill>
            <a:srgbClr val="FBF6EC"/>
          </a:solidFill>
          <a:ln/>
        </p:spPr>
      </p:sp>
      <p:sp>
        <p:nvSpPr>
          <p:cNvPr id="21" name="Text 17"/>
          <p:cNvSpPr/>
          <p:nvPr/>
        </p:nvSpPr>
        <p:spPr>
          <a:xfrm>
            <a:off x="4800600" y="514807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got in the way — and why did it matter enough to act on?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8138160" y="1965960"/>
            <a:ext cx="342900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138160" y="1965960"/>
            <a:ext cx="3429000" cy="5029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24" name="Text 20"/>
          <p:cNvSpPr/>
          <p:nvPr/>
        </p:nvSpPr>
        <p:spPr>
          <a:xfrm>
            <a:off x="8321040" y="19659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9486900" y="2651760"/>
            <a:ext cx="731520" cy="731520"/>
          </a:xfrm>
          <a:prstGeom prst="ellipse">
            <a:avLst/>
          </a:prstGeom>
          <a:solidFill>
            <a:srgbClr val="FDE7E8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9313" y="2754173"/>
            <a:ext cx="526694" cy="52669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138160" y="3520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</a:t>
            </a:r>
            <a:endParaRPr lang="en-US" sz="1900" dirty="0"/>
          </a:p>
        </p:txBody>
      </p:sp>
      <p:sp>
        <p:nvSpPr>
          <p:cNvPr id="28" name="Text 23"/>
          <p:cNvSpPr/>
          <p:nvPr/>
        </p:nvSpPr>
        <p:spPr>
          <a:xfrm>
            <a:off x="8412480" y="397764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change: what was done, what shifted, and what's true now that wasn't before.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8412480" y="5074920"/>
            <a:ext cx="2880360" cy="822960"/>
          </a:xfrm>
          <a:prstGeom prst="rect">
            <a:avLst/>
          </a:prstGeom>
          <a:solidFill>
            <a:srgbClr val="FBF6EC"/>
          </a:solidFill>
          <a:ln/>
        </p:spPr>
      </p:sp>
      <p:sp>
        <p:nvSpPr>
          <p:cNvPr id="30" name="Text 25"/>
          <p:cNvSpPr/>
          <p:nvPr/>
        </p:nvSpPr>
        <p:spPr>
          <a:xfrm>
            <a:off x="8549640" y="514807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different now, and what should the audience do next?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in Business — Workshop Deck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REFERENCE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Canva Story Structure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example — mapping a product-launch narrative onto the Setup / Conflict / Resolution frame, ready to drop into a Canva storyboard.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88136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94560"/>
            <a:ext cx="10881360" cy="365760"/>
          </a:xfrm>
          <a:prstGeom prst="rect">
            <a:avLst/>
          </a:prstGeom>
          <a:solidFill>
            <a:srgbClr val="F1EFE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1343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2313432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Shape 7"/>
          <p:cNvSpPr/>
          <p:nvPr/>
        </p:nvSpPr>
        <p:spPr>
          <a:xfrm>
            <a:off x="1280160" y="2313432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Board — "Launch Day" Story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2788920"/>
            <a:ext cx="3352800" cy="2286000"/>
          </a:xfrm>
          <a:prstGeom prst="rect">
            <a:avLst/>
          </a:prstGeom>
          <a:solidFill>
            <a:srgbClr val="FDE7E8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926080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7280" y="324612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customer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3703320"/>
            <a:ext cx="298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"Priya runs support tickets manually across 4 tools — 6 hrs/week lost to copy-paste."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04360" y="2788920"/>
            <a:ext cx="3352800" cy="2286000"/>
          </a:xfrm>
          <a:prstGeom prst="rect">
            <a:avLst/>
          </a:prstGeom>
          <a:solidFill>
            <a:srgbClr val="FBF1D6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7240" y="2926080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87240" y="324612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breaking point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87240" y="3703320"/>
            <a:ext cx="298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missed ticket costs a renewal. Leadership asks: why are we still doing this by hand?"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94320" y="2788920"/>
            <a:ext cx="3352800" cy="2286000"/>
          </a:xfrm>
          <a:prstGeom prst="rect">
            <a:avLst/>
          </a:prstGeom>
          <a:solidFill>
            <a:srgbClr val="E4F0E9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77200" y="2926080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77200" y="324612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new normal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77200" y="3703320"/>
            <a:ext cx="298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"One dashboard, auto-routed tickets. Priya reclaims 6 hrs/week — and the renewal closes."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52578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 note: each panel = one Canva slide. Keep one idea, one image, one line of narration per panel — resist the urge to explain everything at once.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in Business — Workshop Deck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EMOTION &amp; MEMORY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Role of Emotion &amp; Memory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don't remember statistics. They remember how a moment made them feel — and emotion is the mechanism that decides what the brain files away as important enough to keep.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548640" cy="548640"/>
          </a:xfrm>
          <a:prstGeom prst="ellipse">
            <a:avLst/>
          </a:prstGeom>
          <a:solidFill>
            <a:srgbClr val="FDE7E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890" y="30943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9992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tags memory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71600" y="331927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amygdala flags emotionally charged moments as 'important' — those are the details that survive weeks later.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4069080"/>
            <a:ext cx="548640" cy="548640"/>
          </a:xfrm>
          <a:prstGeom prst="ellipse">
            <a:avLst/>
          </a:prstGeom>
          <a:solidFill>
            <a:srgbClr val="FDE7E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90" y="414589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40507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outlast slides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371600" y="437083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well-told anecdote gets repeated in the hallway; a bullet point rarely does.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5120640"/>
            <a:ext cx="548640" cy="548640"/>
          </a:xfrm>
          <a:prstGeom prst="ellipse">
            <a:avLst/>
          </a:prstGeom>
          <a:solidFill>
            <a:srgbClr val="FDE7E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90" y="5197450"/>
            <a:ext cx="395021" cy="3950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51023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 creates feeling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371600" y="542239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named person's specific struggle lands harder than an aggregate statistic ever will.</a:t>
            </a:r>
            <a:endParaRPr lang="en-US" sz="11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309360" y="1737360"/>
          <a:ext cx="52120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8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in Business — Workshop Deck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CORE MESSAGE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Identifying Your Core Message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build a single slide, you need one sentence your audience could repeat to someone else, correctly, five minutes later.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2286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ONE thing I need them to remember, even if they forget everything else?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3063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I want them to feel — confident, urgent, curious, reassured?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840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ONE action I want them to take after this story?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4892040"/>
            <a:ext cx="10881360" cy="1234440"/>
          </a:xfrm>
          <a:prstGeom prst="rect">
            <a:avLst/>
          </a:prstGeom>
          <a:solidFill>
            <a:srgbClr val="2F3C7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516636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5262372"/>
            <a:ext cx="493776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828800" y="502920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one-sentence filter: </a:t>
            </a:r>
            <a:pPr indent="0" marL="0">
              <a:buNone/>
            </a:pPr>
            <a:r>
              <a:rPr lang="en-US" sz="130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I could only say one sentence, it would be ___." If a slide, stat, or anecdote doesn't serve that sentence, it's a candidate to cut.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in Business — Workshop Deck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STAKEHOLDERS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Your Stakeholders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core message needs a different entry point for each audience — know who's in the room before you write a word.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23060" y="2606040"/>
            <a:ext cx="640080" cy="640080"/>
          </a:xfrm>
          <a:prstGeom prst="ellipse">
            <a:avLst/>
          </a:prstGeom>
          <a:solidFill>
            <a:srgbClr val="FDE7E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2671" y="2695651"/>
            <a:ext cx="460858" cy="4608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83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Decision-Makers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8680" y="38862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about risk, ROI, and outcomes.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68680" y="4617720"/>
            <a:ext cx="2148840" cy="777240"/>
          </a:xfrm>
          <a:prstGeom prst="rect">
            <a:avLst/>
          </a:prstGeom>
          <a:solidFill>
            <a:srgbClr val="FBF6EC"/>
          </a:solidFill>
          <a:ln/>
        </p:spPr>
      </p:sp>
      <p:sp>
        <p:nvSpPr>
          <p:cNvPr id="11" name="Text 8"/>
          <p:cNvSpPr/>
          <p:nvPr/>
        </p:nvSpPr>
        <p:spPr>
          <a:xfrm>
            <a:off x="978408" y="4663440"/>
            <a:ext cx="1929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resolution and the business case.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520440" y="233172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03420" y="2606040"/>
            <a:ext cx="640080" cy="640080"/>
          </a:xfrm>
          <a:prstGeom prst="ellipse">
            <a:avLst/>
          </a:prstGeom>
          <a:solidFill>
            <a:srgbClr val="FDE7E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031" y="2695651"/>
            <a:ext cx="460858" cy="46085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03320" y="3383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Users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749040" y="38862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about ease, relief, day-to-day impact.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749040" y="4617720"/>
            <a:ext cx="2148840" cy="777240"/>
          </a:xfrm>
          <a:prstGeom prst="rect">
            <a:avLst/>
          </a:prstGeom>
          <a:solidFill>
            <a:srgbClr val="FBF6EC"/>
          </a:solidFill>
          <a:ln/>
        </p:spPr>
      </p:sp>
      <p:sp>
        <p:nvSpPr>
          <p:cNvPr id="18" name="Text 14"/>
          <p:cNvSpPr/>
          <p:nvPr/>
        </p:nvSpPr>
        <p:spPr>
          <a:xfrm>
            <a:off x="3858768" y="4663440"/>
            <a:ext cx="1929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conflict — the pain they'll recognize.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400800" y="233172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383780" y="2606040"/>
            <a:ext cx="640080" cy="640080"/>
          </a:xfrm>
          <a:prstGeom prst="ellipse">
            <a:avLst/>
          </a:prstGeom>
          <a:solidFill>
            <a:srgbClr val="FDE7E8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391" y="2695651"/>
            <a:ext cx="460858" cy="46085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83680" y="3383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Reviewers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6629400" y="38862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about how it works and why it's sound.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629400" y="4617720"/>
            <a:ext cx="2148840" cy="777240"/>
          </a:xfrm>
          <a:prstGeom prst="rect">
            <a:avLst/>
          </a:prstGeom>
          <a:solidFill>
            <a:srgbClr val="FBF6EC"/>
          </a:solidFill>
          <a:ln/>
        </p:spPr>
      </p:sp>
      <p:sp>
        <p:nvSpPr>
          <p:cNvPr id="25" name="Text 20"/>
          <p:cNvSpPr/>
          <p:nvPr/>
        </p:nvSpPr>
        <p:spPr>
          <a:xfrm>
            <a:off x="6739128" y="4663440"/>
            <a:ext cx="1929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setup — mechanics and constraints.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9281160" y="233172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10264140" y="2606040"/>
            <a:ext cx="640080" cy="640080"/>
          </a:xfrm>
          <a:prstGeom prst="ellipse">
            <a:avLst/>
          </a:prstGeom>
          <a:solidFill>
            <a:srgbClr val="FDE7E8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751" y="2695651"/>
            <a:ext cx="460858" cy="46085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464040" y="3383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Champions / Allies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9509760" y="38862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about how to advocate for it internally.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9509760" y="4617720"/>
            <a:ext cx="2148840" cy="777240"/>
          </a:xfrm>
          <a:prstGeom prst="rect">
            <a:avLst/>
          </a:prstGeom>
          <a:solidFill>
            <a:srgbClr val="FBF6EC"/>
          </a:solidFill>
          <a:ln/>
        </p:spPr>
      </p:sp>
      <p:sp>
        <p:nvSpPr>
          <p:cNvPr id="32" name="Text 26"/>
          <p:cNvSpPr/>
          <p:nvPr/>
        </p:nvSpPr>
        <p:spPr>
          <a:xfrm>
            <a:off x="9619488" y="4663440"/>
            <a:ext cx="1929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them the whole arc, in a repeatable form.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in Business — Workshop Deck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2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METAPHORS &amp; ANALOGIES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Borrowing Meaning People Already Have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metaphor doesn't decorate an idea — it transfers understanding your audience already has in one domain into a new one, instantly.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3429000" cy="356616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7889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809" y="2859329"/>
            <a:ext cx="362102" cy="3621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788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debt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14400" y="347472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"Like putting off home repairs — ignore it long enough and the roof caves in at the worst possible time."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9120" y="2514600"/>
            <a:ext cx="3429000" cy="356616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1" name="Shape 8"/>
          <p:cNvSpPr/>
          <p:nvPr/>
        </p:nvSpPr>
        <p:spPr>
          <a:xfrm>
            <a:off x="4663440" y="27889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849" y="2859329"/>
            <a:ext cx="362102" cy="3621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2788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friction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63440" y="347472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"It's a locked door with the key on the other side — the harder it is to get in, the fewer people bother."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38160" y="2514600"/>
            <a:ext cx="3429000" cy="356616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6" name="Shape 12"/>
          <p:cNvSpPr/>
          <p:nvPr/>
        </p:nvSpPr>
        <p:spPr>
          <a:xfrm>
            <a:off x="8412480" y="27889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2889" y="2859329"/>
            <a:ext cx="362102" cy="3621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52560" y="2788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silos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412480" y="347472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"Four departments, four filing cabinets, no shared index — everyone re-does work someone already finished."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in Business — Workshop Deck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VISUAL LANGUAGE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the Abstract Visible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94360" cy="594360"/>
          </a:xfrm>
          <a:prstGeom prst="ellipse">
            <a:avLst/>
          </a:prstGeom>
          <a:solidFill>
            <a:srgbClr val="FDE7E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290" y="204917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947672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idea, one image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63040" y="22860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visual should map to a single concept — if it needs a caption to explain three things, split it.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926080"/>
            <a:ext cx="594360" cy="594360"/>
          </a:xfrm>
          <a:prstGeom prst="ellipse">
            <a:avLst/>
          </a:prstGeom>
          <a:solidFill>
            <a:srgbClr val="FDE7E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90" y="3009290"/>
            <a:ext cx="427939" cy="42793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907792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journey, not just the destination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463040" y="324612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before/after or a path diagram does more work than a paragraph of context.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886200"/>
            <a:ext cx="594360" cy="594360"/>
          </a:xfrm>
          <a:prstGeom prst="ellipse">
            <a:avLst/>
          </a:prstGeom>
          <a:solidFill>
            <a:srgbClr val="FDE7E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" y="3969410"/>
            <a:ext cx="427939" cy="42793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867912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visual motif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463040" y="42062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one icon style, one shape language, one color logic — it signals a single coherent story, not a slide deck stitched together.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4846320"/>
            <a:ext cx="594360" cy="594360"/>
          </a:xfrm>
          <a:prstGeom prst="ellipse">
            <a:avLst/>
          </a:prstGeom>
          <a:solidFill>
            <a:srgbClr val="FDE7E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" y="4929530"/>
            <a:ext cx="427939" cy="42793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4828032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earn their place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463040" y="516636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stock photo or icon doesn't clarify the point, it's decoration — cut it.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in Business — Workshop Deck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FROM BOARD TO DECK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Translating Storyboard into Slides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146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860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D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68680" y="30175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the beats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65760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 out setup, conflict, and resolution beats as sticky notes or Canva panels before opening PowerPoint.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72968" y="370332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10712" y="2103120"/>
            <a:ext cx="25146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93592" y="22860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D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639312" y="30175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beat, one slide (or few)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39312" y="365760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 cramming two beats onto one slide — give each moment room to land.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370332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181344" y="2103120"/>
            <a:ext cx="25146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64224" y="22860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D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409944" y="30175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headline first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9944" y="365760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slide's title should be the takeaway sentence, not a topic label.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14232" y="370332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951976" y="2103120"/>
            <a:ext cx="25146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34856" y="22860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D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9180576" y="30175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in visual + data last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80576" y="365760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chart, image, or icon only after the narrative sentence is locked.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in Business — Workshop Deck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2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DELIVERY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Voice, Pacing &amp; Body Language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448056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5" name="Shape 3"/>
          <p:cNvSpPr/>
          <p:nvPr/>
        </p:nvSpPr>
        <p:spPr>
          <a:xfrm>
            <a:off x="1988820" y="210312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1233" y="2205533"/>
            <a:ext cx="526694" cy="5266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17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3520440"/>
            <a:ext cx="2788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 tone to mark the conflict from the resolution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volume for gravity, not just for emphasis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a flat, uptalk-heavy narration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783080"/>
            <a:ext cx="3429000" cy="448056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0" name="Shape 7"/>
          <p:cNvSpPr/>
          <p:nvPr/>
        </p:nvSpPr>
        <p:spPr>
          <a:xfrm>
            <a:off x="5737860" y="210312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273" y="2205533"/>
            <a:ext cx="526694" cy="5266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89120" y="3017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Pacing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09160" y="3520440"/>
            <a:ext cx="2788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down at the turning point — let it breathe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up through setup details the audience doesn't need to savor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after the core message sentence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1783080"/>
            <a:ext cx="3429000" cy="448056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5" name="Shape 11"/>
          <p:cNvSpPr/>
          <p:nvPr/>
        </p:nvSpPr>
        <p:spPr>
          <a:xfrm>
            <a:off x="9486900" y="210312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9313" y="2205533"/>
            <a:ext cx="526694" cy="5266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8160" y="3017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Body Language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58200" y="3520440"/>
            <a:ext cx="2788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posture, hands visible, weight balanced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to match story beats, not randomly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eye contact at the resolution — that's the ask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in Business — Workshop Deck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32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5486400" cy="54864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5166360" y="1920240"/>
            <a:ext cx="1463040" cy="14630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1186" y="2125066"/>
            <a:ext cx="1053389" cy="105338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657600"/>
            <a:ext cx="1216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 Break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0" y="43434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 — back at the top of the hour for the hands-on build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in Business — Workshop Deck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Your Application's Storytelling Deck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everything from today to the application your team built in Week 5. You'll leave with a working PowerPoint deck that tells its story — not just lists its features.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6060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23060" y="2743200"/>
            <a:ext cx="640080" cy="640080"/>
          </a:xfrm>
          <a:prstGeom prst="ellipse">
            <a:avLst/>
          </a:prstGeom>
          <a:solidFill>
            <a:srgbClr val="FDE7E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2671" y="2832811"/>
            <a:ext cx="460858" cy="4608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the core message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397764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sentence: what problem does the application solve, and for whom?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520440" y="2468880"/>
            <a:ext cx="26060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03420" y="2743200"/>
            <a:ext cx="640080" cy="640080"/>
          </a:xfrm>
          <a:prstGeom prst="ellipse">
            <a:avLst/>
          </a:prstGeom>
          <a:solidFill>
            <a:srgbClr val="FDE7E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031" y="283281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0332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 primary stakeholder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749040" y="397764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audience — user, sponsor, or technical reviewer — and write for them.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400800" y="2468880"/>
            <a:ext cx="26060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83780" y="2743200"/>
            <a:ext cx="640080" cy="640080"/>
          </a:xfrm>
          <a:prstGeom prst="ellipse">
            <a:avLst/>
          </a:prstGeom>
          <a:solidFill>
            <a:srgbClr val="FDE7E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391" y="2832811"/>
            <a:ext cx="460858" cy="46085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8368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setup → conflict → resolution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629400" y="397764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application's story onto the three-act structure from Module 1.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281160" y="2468880"/>
            <a:ext cx="26060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264140" y="2743200"/>
            <a:ext cx="640080" cy="640080"/>
          </a:xfrm>
          <a:prstGeom prst="ellipse">
            <a:avLst/>
          </a:prstGeom>
          <a:solidFill>
            <a:srgbClr val="FDE7E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751" y="2832811"/>
            <a:ext cx="460858" cy="46085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6404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it in PowerPoint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509760" y="397764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the storyboard into slides — headline-first, one beat per slide.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in Business — Workshop Deck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 · TIMEBOX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Session — 2 Hours 15 Minutes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737360" cy="5486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 – 4:20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514600" y="2148840"/>
            <a:ext cx="9006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97480" y="21488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Solo: draft your one-sentence core message + stakeholder choice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07208"/>
            <a:ext cx="1737360" cy="5486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072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4:20 – 5:00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514600" y="2807208"/>
            <a:ext cx="9006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28072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map setup / conflict / resolution beats on the whiteboard or Canva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65576"/>
            <a:ext cx="1737360" cy="5486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6557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 – 5:45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514600" y="3465576"/>
            <a:ext cx="9006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3465576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build the deck in PowerPoint — headline-first, one beat per slide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123944"/>
            <a:ext cx="1737360" cy="5486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2394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5:45 – 6:00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514600" y="4123944"/>
            <a:ext cx="9006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7480" y="4123944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supporting visuals, data, and a title slide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782312"/>
            <a:ext cx="1737360" cy="5486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7823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 – 6:15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514600" y="4782312"/>
            <a:ext cx="9006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478231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swap: 5-minute gut-check — is the core message obvious by slide 2?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577840"/>
            <a:ext cx="10881360" cy="685800"/>
          </a:xfrm>
          <a:prstGeom prst="rect">
            <a:avLst/>
          </a:prstGeom>
          <a:solidFill>
            <a:srgbClr val="FBF6EC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6235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</a:t>
            </a:r>
            <a:pPr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PowerPoint deck (6–10 slides) telling the story of your Week 5 application, ready for the pitch practice session that follows.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in Business — Workshop Deck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32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3-Minute Story Pitch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your Week 5 application using only the story you built — no feature walkthrough, no demo. Setup, conflict, resolution, in three minutes.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3429000" cy="32004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6517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0:00–0:45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370332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the user, what was normal, what did they need before this existed?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2423160"/>
            <a:ext cx="3429000" cy="32004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26517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0:45–2:00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0" y="30632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9160" y="370332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broke, blocked, or cost them — make the stakes concrete and specific.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2423160"/>
            <a:ext cx="3429000" cy="32004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26517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2:00–3:00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38160" y="30632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58200" y="370332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because of your application, and what should we do next?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in Business — Workshop Deck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· PEER FEEDBACK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Your Listener Should Notice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103120" cy="658368"/>
          </a:xfrm>
          <a:prstGeom prst="rect">
            <a:avLst/>
          </a:prstGeom>
          <a:solidFill>
            <a:srgbClr val="FDE7E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80360" y="2103120"/>
            <a:ext cx="8641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21031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a stranger repeat the core message afterward, correctly?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2103120" cy="658368"/>
          </a:xfrm>
          <a:prstGeom prst="rect">
            <a:avLst/>
          </a:prstGeom>
          <a:solidFill>
            <a:srgbClr val="FDE7E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8036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80360" y="2880360"/>
            <a:ext cx="8641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288036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conflict feel real and specific, not generic?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2103120" cy="658368"/>
          </a:xfrm>
          <a:prstGeom prst="rect">
            <a:avLst/>
          </a:prstGeom>
          <a:solidFill>
            <a:srgbClr val="FDE7E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5760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880360" y="3657600"/>
            <a:ext cx="8641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36576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delivery make you feel something — urgency, relief, curiosity?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2103120" cy="658368"/>
          </a:xfrm>
          <a:prstGeom prst="rect">
            <a:avLst/>
          </a:prstGeom>
          <a:solidFill>
            <a:srgbClr val="FDE7E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4348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880360" y="4434840"/>
            <a:ext cx="8641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44348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speaker slow down at the turning point and land the resolution?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212080"/>
            <a:ext cx="2103120" cy="658368"/>
          </a:xfrm>
          <a:prstGeom prst="rect">
            <a:avLst/>
          </a:prstGeom>
          <a:solidFill>
            <a:srgbClr val="FDE7E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21208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880360" y="5212080"/>
            <a:ext cx="8641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0" y="52120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it obvious what should happen next?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in Business — Workshop Deck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32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890" y="185989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83080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business message has a shape — setup, conflict, resolution — use it deliberately.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263640" y="178308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450" y="1859890"/>
            <a:ext cx="395021" cy="3950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95160" y="1783080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is what makes a message survive past the meeting it was delivered in.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0080" y="320040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90" y="3277210"/>
            <a:ext cx="395021" cy="39502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3200400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sentence, one audience at a time — clarity beats completeness.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263640" y="320040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0450" y="3277210"/>
            <a:ext cx="395021" cy="39502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95160" y="3200400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meaning through metaphor instead of explaining from scratch.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40080" y="461772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90" y="4694530"/>
            <a:ext cx="395021" cy="39502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71600" y="4617720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storyboard built before the deck saves hours of slide-shuffling later.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6263640" y="461772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0450" y="4694530"/>
            <a:ext cx="395021" cy="395021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95160" y="4617720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— voice, pacing, body language — is part of the story, not separate from it.</a:t>
            </a:r>
            <a:endParaRPr lang="en-US" sz="1250" dirty="0"/>
          </a:p>
        </p:txBody>
      </p:sp>
      <p:sp>
        <p:nvSpPr>
          <p:cNvPr id="22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in Business — Workshop Deck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27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32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56032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352044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feedback, or a story you want workshopped further?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0" y="603504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27 · Storytelling in Business Workshop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27 — Storytelling in Business</dc:title>
  <dc:subject>PptxGenJS Presentation</dc:subject>
  <dc:creator>Storytelling in Business Workshop</dc:creator>
  <cp:lastModifiedBy>Storytelling in Business Workshop</cp:lastModifiedBy>
  <cp:revision>1</cp:revision>
  <dcterms:created xsi:type="dcterms:W3CDTF">2026-07-04T12:36:49Z</dcterms:created>
  <dcterms:modified xsi:type="dcterms:W3CDTF">2026-07-04T12:36:49Z</dcterms:modified>
</cp:coreProperties>
</file>