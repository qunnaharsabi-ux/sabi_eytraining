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D9488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Problem &amp; scope</c:v>
                  </c:pt>
                  <c:pt idx="1">
                    <c:v>Architecture</c:v>
                  </c:pt>
                  <c:pt idx="2">
                    <c:v>Functionality</c:v>
                  </c:pt>
                  <c:pt idx="3">
                    <c:v>Code &amp; repo</c:v>
                  </c:pt>
                  <c:pt idx="4">
                    <c:v>Eval &amp; metrics</c:v>
                  </c:pt>
                  <c:pt idx="5">
                    <c:v>Demo &amp; docs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15</c:v>
                </c:pt>
                <c:pt idx="4">
                  <c:v>15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48640"/>
            <a:ext cx="201168" cy="201168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48640"/>
            <a:ext cx="201168" cy="201168"/>
          </a:xfrm>
          <a:prstGeom prst="ellipse">
            <a:avLst/>
          </a:prstGeom>
          <a:solidFill>
            <a:srgbClr val="0EA5E9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548640"/>
            <a:ext cx="201168" cy="201168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1097280"/>
            <a:ext cx="201168" cy="201168"/>
          </a:xfrm>
          <a:prstGeom prst="ellipse">
            <a:avLst/>
          </a:prstGeom>
          <a:solidFill>
            <a:srgbClr val="0EA5E9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097280"/>
            <a:ext cx="201168" cy="201168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CAPSTONE PROJECT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1 — Foundation &amp; Planning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scoping, designing and launching an agentic-AI build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1248" y="3886200"/>
            <a:ext cx="21945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1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60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deliverables move you from a blank page to a launch-ready repository.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01368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385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6888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" y="2715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76072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 real, scoped need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30552" y="160020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7752" y="1801368"/>
            <a:ext cx="603504" cy="60350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9385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30552" y="246888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203704" y="2715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203704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· Summariser · Recommender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58184" y="160020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15384" y="1801368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9385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58184" y="246888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831336" y="2715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3831336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multi-agent flow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385816" y="160020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843016" y="1801368"/>
            <a:ext cx="603504" cy="60350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93852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85816" y="246888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58968" y="2715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458968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tools per layer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013448" y="160020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70648" y="1801368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1938528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13448" y="246888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086600" y="2715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086600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clear ownership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641080" y="160020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098280" y="1801368"/>
            <a:ext cx="603504" cy="60350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1938528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641080" y="246888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714232" y="2715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8714232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branches, board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10268712" y="160020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10725912" y="1801368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072" y="1938528"/>
            <a:ext cx="329184" cy="32918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268712" y="2468880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35"/>
          <p:cNvSpPr/>
          <p:nvPr/>
        </p:nvSpPr>
        <p:spPr>
          <a:xfrm>
            <a:off x="10341864" y="2715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&amp; docs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10341864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services, set up docs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502920" y="3749040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0F1729"/>
          </a:solidFill>
          <a:ln/>
        </p:spPr>
      </p:sp>
      <p:sp>
        <p:nvSpPr>
          <p:cNvPr id="47" name="Text 38"/>
          <p:cNvSpPr/>
          <p:nvPr/>
        </p:nvSpPr>
        <p:spPr>
          <a:xfrm>
            <a:off x="777240" y="37490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Day 1:  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scope before you write code. Every later day depends on decisions made today — a vague problem statement costs you on Day 4, not Day 1.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STEP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Define the problem statement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17320" y="1207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problem statement is the single biggest predictor of a successful capstone.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strong statement contains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2395728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07008" y="23591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context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Who feels the pain, and where?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017520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07008" y="298094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/ pain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concrete problem, not three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3931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07008" y="360273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you'll build, in a sentence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4261104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07008" y="42245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you'll know it worked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77240" y="488289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882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07008" y="4846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real or synthetic data feeds it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77240" y="5504688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5504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07008" y="54681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fence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is explicitly out of scope for 5 days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199632" y="173736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0F1729"/>
          </a:solidFill>
          <a:ln/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46520" y="19019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 template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46520" y="224028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[users]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[need]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 build a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[chatbot / summariser / recommender]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measured by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Unlike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[today's workaround]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uses agents to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[reason / retrieve / act]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99632" y="42062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46520" y="4343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traps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46520" y="46634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“Boil-the-ocean” scope — pick one workflow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plan — confirm data exists before Day 2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Unmeasurable goals like “make it smart”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Solution-first framing that hides the real need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STEP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Choose your project type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17320" y="1207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proven archetypes — each maps cleanly onto a multi-agent pattern.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3611880" cy="434340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7830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0D9488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377440"/>
            <a:ext cx="361188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Chatbot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508760" y="2432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Q&amp;A or task assistant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angle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95528" y="338328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your knowledge base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agents for actions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support, onboarding, internal help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06824" y="1783080"/>
            <a:ext cx="3611880" cy="434340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06824" y="17830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0EA5E9"/>
          </a:solidFill>
          <a:ln/>
        </p:spPr>
      </p:sp>
      <p:sp>
        <p:nvSpPr>
          <p:cNvPr id="17" name="Shape 13"/>
          <p:cNvSpPr/>
          <p:nvPr/>
        </p:nvSpPr>
        <p:spPr>
          <a:xfrm>
            <a:off x="4306824" y="2377440"/>
            <a:ext cx="3611880" cy="4572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011680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12664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Summariser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5312664" y="2432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long or messy content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81144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angle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99432" y="338328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Map-reduce / refine over chunks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for retrieval at scale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reports, meetings, research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110728" y="1783080"/>
            <a:ext cx="3611880" cy="434340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110728" y="17830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8110728" y="2377440"/>
            <a:ext cx="3611880" cy="457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2011680"/>
            <a:ext cx="566928" cy="5669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16568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Recommender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9116568" y="2432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the next best item or action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385048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angle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403336" y="338328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similarity search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re-ranks with business rules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content, products, learning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STEP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Draft the architecture diagram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17320" y="1207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multi-agent flow — adapt the boxes, keep the layers.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11201400" cy="4480560"/>
          </a:xfrm>
          <a:prstGeom prst="roundRect">
            <a:avLst>
              <a:gd name="adj" fmla="val 8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10312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3225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6464" y="210312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UI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· API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0" y="2514600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3337560" y="201168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0F172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23225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41064" y="201168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planning · memory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897880" y="2514600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446520" y="178308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556248" y="178308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Agent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context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46520" y="2395728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556248" y="239572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Agent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decide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46520" y="3008376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556248" y="300837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Action Agent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APIs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46520" y="3611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8732520" y="2651760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9235440" y="214884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0F172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243687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838944" y="214884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/ GPT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589520" y="3886200"/>
            <a:ext cx="0" cy="50292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22960" y="44348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700016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26464" y="44348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· RAG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611880" y="44348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184" y="470001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215384" y="44348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cache · queue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400800" y="443484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4700016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004304" y="443484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DB · web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9189720" y="443484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4700016"/>
            <a:ext cx="384048" cy="38404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793224" y="443484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traces · evals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7589520" y="3886200"/>
            <a:ext cx="0" cy="54864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2057400" y="4160520"/>
            <a:ext cx="553212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42" name="Shape 32"/>
          <p:cNvSpPr/>
          <p:nvPr/>
        </p:nvSpPr>
        <p:spPr>
          <a:xfrm>
            <a:off x="4846320" y="4160520"/>
            <a:ext cx="0" cy="27432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2057400" y="4160520"/>
            <a:ext cx="0" cy="27432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10287000" y="4160520"/>
            <a:ext cx="0" cy="27432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STEP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Select your tech stack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17320" y="1207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one tool per layer — favour what the team already knows.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112014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186537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3852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7830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931920" y="1783080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React · Next.js · Gradio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2404872"/>
            <a:ext cx="1120140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8368" y="2487168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6032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4048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931920" y="2404872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LangChain · Semantic Kernel · AutoGen · CrewAI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3026664"/>
            <a:ext cx="112014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8368" y="3108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8211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0266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Models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3931920" y="3026664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(GPT-4o) · Anthropic Claude · open-weights via vLLM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02920" y="3648456"/>
            <a:ext cx="1120140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8368" y="3730752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0390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36484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3931920" y="3648456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· Pinecone · pgvector · Chroma · Qdrant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02920" y="4270248"/>
            <a:ext cx="112014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58368" y="435254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25696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88720" y="42702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3931920" y="4270248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Redis cache · Service Bus / queues · API gateway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502920" y="4892040"/>
            <a:ext cx="1120140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58368" y="4974336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047488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88720" y="48920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3931920" y="4892040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· Azure App Insights · OpenTelemetry · Langfuse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502920" y="5513832"/>
            <a:ext cx="112014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58368" y="559612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669280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188720" y="55138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3931920" y="5513832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· Functions · Docker · GitHub Actions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STEP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Team formation &amp; role assignment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17320" y="1207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has a clear owner — small teams double up, nobody is idle.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2130552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6771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984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PM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235000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scope, timeline &amp; daily standup; unblocks the team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0" y="178308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73368" y="2130552"/>
            <a:ext cx="603504" cy="60350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26771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0" y="1984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132320" y="235000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architecture diagram &amp; key design decisions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320040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4088" y="3547872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68503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3401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Backend Dev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463040" y="376732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orchestrator, agents and tool integrations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172200" y="320040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73368" y="3547872"/>
            <a:ext cx="603504" cy="60350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685032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3401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Vector Engineer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132320" y="376732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data pipeline, embeddings and the vector DB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02920" y="461772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04088" y="4965192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102352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63040" y="48188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1463040" y="51846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UI and the demo experience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172200" y="461772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373368" y="4965192"/>
            <a:ext cx="603504" cy="60350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5102352"/>
            <a:ext cx="329184" cy="32918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132320" y="48188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Observability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7132320" y="51846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repo, CI/CD, Azure deploy, logging &amp; evals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daily 15-min standup and write roles into the README so ownership is visible.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STEP 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 up the GitHub repository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17320" y="1207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from hour one — structure, branches and a board.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120640" cy="4434840"/>
          </a:xfrm>
          <a:prstGeom prst="roundRect">
            <a:avLst>
              <a:gd name="adj" fmla="val 1237"/>
            </a:avLst>
          </a:prstGeom>
          <a:solidFill>
            <a:srgbClr val="0F1729"/>
          </a:solidFill>
          <a:ln/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9385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structure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capstone/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   architecture, decisions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agents/      agent definitions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orchestrator/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retrieval/   vector + RAG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api/         FastAPI / endpoints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ui/              frontend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infra/           Azure / IaC, Dockerfile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tests/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.github/workflows/   CI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.gitignore   ·   .env.example</a:t>
            </a:r>
            <a:endParaRPr lang="en-US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requirements.txt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5852160" y="1783080"/>
            <a:ext cx="5852160" cy="987552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53328" y="202996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2139696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19110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2084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protected; feature branches + PR review before merge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852160" y="2898648"/>
            <a:ext cx="5852160" cy="987552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53328" y="3145536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3255264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3026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board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720840" y="3355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5-day plan into issues on a GitHub Project board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852160" y="4014216"/>
            <a:ext cx="5852160" cy="987552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53328" y="426110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437083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0840" y="4142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720840" y="4471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keys — use .env.example + GitHub Secrets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852160" y="5129784"/>
            <a:ext cx="5852160" cy="987552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053328" y="537667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5486400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20840" y="5257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from day 1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720840" y="55869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lint + tests on every PR so main always runs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STEP 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Azure services mapping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17320" y="1207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architecture component to its Azure equivalent.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201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8920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gives you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/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GPT-4o, embeddings, content safety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 / 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+ hybrid search, semantic ranker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host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Container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agents &amp; API; scales to zero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logic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tools &amp; glue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/ 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Cosmos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history, sessions, metadata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 / queue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Service Bus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Decouple agents, async tasks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Key Vault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API keys &amp; connection strings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+ App Insights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Traces, metrics, dashboards, 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STEP 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Documentation structure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17320" y="1207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written today save hours of confusion on Day 5.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216712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9057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417320" y="23500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pitch, setup steps, how to run, team &amp; roles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0" y="178308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73368" y="2167128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9057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086600" y="23500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+ component walkthrough &amp; data flow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320040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4088" y="35844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78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401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docs/decisions.md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417320" y="37673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ADRs: each key choice, options weighed, why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172200" y="320040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73368" y="3584448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7078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86600" y="3401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docs/data.md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086600" y="37673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schema, embedding &amp; chunking strategy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02920" y="461772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04088" y="50017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2521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17320" y="48188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docs/api.md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1417320" y="5184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request/response examples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172200" y="4617720"/>
            <a:ext cx="55321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9">
                <a:alpha val="16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373368" y="5001768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512521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086600" y="48188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docs/demo.md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7086600" y="51846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+ evaluation results for Day 5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docs: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them as decisions change — stale docs are worse than none.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STEP 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Evaluation metrics — scoring rubric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17320" y="12070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5-day capstone is judged · 100 points total.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05740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17220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band rewards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26480" y="2103120"/>
            <a:ext cx="559612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63640" y="222199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2" name="Text 8"/>
          <p:cNvSpPr/>
          <p:nvPr/>
        </p:nvSpPr>
        <p:spPr>
          <a:xfrm>
            <a:off x="6263640" y="22219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949440" y="210312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scope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real, well-scoped problem &amp; success metric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779776"/>
            <a:ext cx="5596128" cy="585216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2898648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0EA5E9"/>
          </a:solidFill>
          <a:ln/>
        </p:spPr>
      </p:sp>
      <p:sp>
        <p:nvSpPr>
          <p:cNvPr id="16" name="Text 12"/>
          <p:cNvSpPr/>
          <p:nvPr/>
        </p:nvSpPr>
        <p:spPr>
          <a:xfrm>
            <a:off x="6263640" y="289864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949440" y="2779776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multi-agent design; right tools per layer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3456432"/>
            <a:ext cx="559612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3575304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0" name="Text 16"/>
          <p:cNvSpPr/>
          <p:nvPr/>
        </p:nvSpPr>
        <p:spPr>
          <a:xfrm>
            <a:off x="6263640" y="357530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949440" y="345643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end-to-end on the core use case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26480" y="4133088"/>
            <a:ext cx="5596128" cy="585216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63640" y="4251960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0EA5E9"/>
          </a:solidFill>
          <a:ln/>
        </p:spPr>
      </p:sp>
      <p:sp>
        <p:nvSpPr>
          <p:cNvPr id="24" name="Text 20"/>
          <p:cNvSpPr/>
          <p:nvPr/>
        </p:nvSpPr>
        <p:spPr>
          <a:xfrm>
            <a:off x="6263640" y="42519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949440" y="413308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repo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organised, reproducible; good git hygiene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126480" y="4809744"/>
            <a:ext cx="559612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63640" y="492861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6263640" y="4928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949440" y="480974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metrics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metrics + evidence the system meets them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126480" y="5486400"/>
            <a:ext cx="5596128" cy="585216"/>
          </a:xfrm>
          <a:prstGeom prst="roundRect">
            <a:avLst>
              <a:gd name="adj" fmla="val 78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263640" y="560527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0EA5E9"/>
          </a:solidFill>
          <a:ln/>
        </p:spPr>
      </p:sp>
      <p:sp>
        <p:nvSpPr>
          <p:cNvPr id="32" name="Text 28"/>
          <p:cNvSpPr/>
          <p:nvPr/>
        </p:nvSpPr>
        <p:spPr>
          <a:xfrm>
            <a:off x="6263640" y="560527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949440" y="548640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docs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Convincing demo and complete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5-day milestone track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checkpoints — used alongside the rubric to keep teams on pace.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194560" cy="3383280"/>
          </a:xfrm>
          <a:prstGeom prst="roundRect">
            <a:avLst>
              <a:gd name="adj" fmla="val 2917"/>
            </a:avLst>
          </a:prstGeom>
          <a:solidFill>
            <a:srgbClr val="16213A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2057400"/>
            <a:ext cx="768096" cy="7680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307592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32918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" y="38404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locked · architecture drafted · repo &amp; roles 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441448"/>
            <a:ext cx="6400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52928" y="1783080"/>
            <a:ext cx="2194560" cy="3383280"/>
          </a:xfrm>
          <a:prstGeom prst="roundRect">
            <a:avLst>
              <a:gd name="adj" fmla="val 2917"/>
            </a:avLst>
          </a:prstGeom>
          <a:solidFill>
            <a:srgbClr val="16213A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057400"/>
            <a:ext cx="768096" cy="7680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52928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62656" y="32918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&amp; retrieval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38404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ingested · embeddings in vector DB · RAG returns results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47488" y="2441448"/>
            <a:ext cx="6400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11496" y="1783080"/>
            <a:ext cx="2194560" cy="3383280"/>
          </a:xfrm>
          <a:prstGeom prst="roundRect">
            <a:avLst>
              <a:gd name="adj" fmla="val 2917"/>
            </a:avLst>
          </a:prstGeom>
          <a:solidFill>
            <a:srgbClr val="16213A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24728" y="2057400"/>
            <a:ext cx="768096" cy="7680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824728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111496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21224" y="32918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76088" y="38404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agents wired · core flow works end-to-end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06056" y="2441448"/>
            <a:ext cx="6400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70064" y="1783080"/>
            <a:ext cx="2194560" cy="3383280"/>
          </a:xfrm>
          <a:prstGeom prst="roundRect">
            <a:avLst>
              <a:gd name="adj" fmla="val 2917"/>
            </a:avLst>
          </a:prstGeom>
          <a:solidFill>
            <a:srgbClr val="16213A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2057400"/>
            <a:ext cx="768096" cy="7680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8083296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370064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9792" y="32918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Integrate &amp; deploy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34656" y="38404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connected · deployed to Azure · observability live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64624" y="2441448"/>
            <a:ext cx="6400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28632" y="1783080"/>
            <a:ext cx="2194560" cy="3383280"/>
          </a:xfrm>
          <a:prstGeom prst="roundRect">
            <a:avLst>
              <a:gd name="adj" fmla="val 2917"/>
            </a:avLst>
          </a:prstGeom>
          <a:solidFill>
            <a:srgbClr val="16213A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41864" y="2057400"/>
            <a:ext cx="768096" cy="7680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10341864" y="20574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628632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38360" y="329184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 &amp; demo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793224" y="38404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measured · docs complete · final demo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" y="5532120"/>
            <a:ext cx="21945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Lock scope today. Build with confidence all week.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5-Day Capstone — Day 1 Guidelines</dc:title>
  <dc:subject>PptxGenJS Presentation</dc:subject>
  <dc:creator>Capstone Program</dc:creator>
  <cp:lastModifiedBy>Capstone Program</cp:lastModifiedBy>
  <cp:revision>1</cp:revision>
  <dcterms:created xsi:type="dcterms:W3CDTF">2026-06-25T01:55:29Z</dcterms:created>
  <dcterms:modified xsi:type="dcterms:W3CDTF">2026-06-25T01:55:29Z</dcterms:modified>
</cp:coreProperties>
</file>